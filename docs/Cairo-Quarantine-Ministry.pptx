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8DC"/>
                </a:solidFill>
                <a:latin typeface="Arial Unicode MS"/>
              </a:rPr>
              <a:t>ﺔﺤﺼﻟﺍ ﺓﺭﺍﺯﻮﻟ ﻲﻤﻳﺪﻘﺗ ﺽﺮﻋ</a:t>
            </a:r>
            <a:br/>
            <a:r>
              <a:t>2026 ﻮﻳﺎﻣ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ﺔﻣﺪﻘﻣ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.ﺓﺮﻫﺎﻘﻟﺎﺑ ﺕﺎﻤﻴﻌﻄﺘﻟﺍﻭ ﻲﺤﺼﻟﺍ ﺮﺠﺤﻟﺍ ﺕﺎﻣﺪﺨﻟ ﺓﺪﺣﻮﻣ ﺔﻴﻤﻗﺭ ﺔﺼﻨﻣ ﻡﺪﻘﻧ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.ﺪﺣﺍﻭ ﻥﺎﻜﻣ ﻲﻓ ﺭﻭﺪﻟﺍ ﺔﻌﺑﺎﺘﻣﻭ ،ﻯﻭﺎﻜﺸﻟﺍ ،ﺰﺠﺤﻟﺍ ،ﺔﻣﻮﻠﻌﻤﻟﺍ ﻊﻤﺠﺗ ﺔﺼﻨﻤﻟﺍ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.ﺐﺗﺎﻜﻤﻟﺍ ﻞﻤﻋ ﻢﻴﻈﻨﺗﻭ ﺔﻣﺪﺨﻠﻟ ﻦﻃﺍﻮﻤﻟﺍ ﻝﻮﺻﻭ ﻞﻴﻬﺴﺗ :ﻑﺪﻬﻟﺍ 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ﺔﻠﻜﺸﻤﻟﺍ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.ﺐﺘﻜﻤﻟﺍ ﻲﻓ ﻝﺄﺴﻳ ﻭﺃ ﺭﺪﺼﻣ ﻦﻣ ﺮﺜﻛﺃ ﻲﻓ ﺔﻣﻮﻠﻌﻤﻟﺍ ﻦﻋ ﺚﺤﺒﻳ ﻦﻃﺍﻮﻤﻟﺍ ﻥﺎﻛ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.ﺐﺘﻜﻤﻠﻟ ﻲﺼﺨﺸﻟﺍ ﺭﻮﻀﺤﻟﺍ ﺐﻠﻄﺘﻳ ﻥﺎﻛ ﺰﺠﺤﻟﺍ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.ﺖﻴﺒﻟﺍ ﻦﻣ ﺔﻌﺑﺎﺘﻤﻠﻟ ﺔﻠﺑﺎﻗ ﻭﺃ ﺔﺤﺿﺍﻭ ﻦﻜﺗ ﻢﻟ ﺭﺎﻈﺘﻧﻻﺍﻭ ﺭﻭﺪﻟﺍ ﺔﻓﺮﻌﻣ 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ﺔﻴﺳﺎﺳﺃ ﻁﺎﻘﻧ ﺙﻼﺛ — ﻞﺤﻟﺍ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.ﺮﻔﺴﻟﺍ ﻉﺍﻮﻧﺃ ﻞﻜﻟ ﺔﻋﺎﺴﻟﺍ ﺭﺍﺪﻣ ﻰﻠﻋ ﺔﺣﺎﺘﻣﻭ ﺔﺤﺿﺍﻭ ﺔﻣﻮﻠﻌﻣ ①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.ﺐﺘﻜﻤﻟﺍ ﺪﻨﻋ ﺽﺮﻌﻠﻟ (QR) ﺔﻴﻤﻗﺭ ﺔﻗﺎﻄﺑ ﻊﻣ ﻝﺰﻨﻤﻟﺍ ﻦﻣ ﺪﻋﻮﻣ ﺰﺠﺣ ②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.ﺭﺮﻜﺘﻤﻟﺍ ﻝﺎﺼﺗﻼﻟ ﺔﺟﺎﺤﻟﺍ ﻥﻭﺩ ﺎﻴﻤﻗﺭ ﺭﻭﺪﻟﺍﻭ ﺐﻠﻄﻟﺍ ﺔﻌﺑﺎﺘﻣ ③ •</a:t>
            </a:r>
          </a:p>
        </p:txBody>
      </p:sp>
      <p:pic>
        <p:nvPicPr>
          <p:cNvPr id="7" name="Picture 6" descr="03-public-booking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488196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ﺔﻴﺴﻴﺋﺮﻟﺍ ﺔﺤﻔﺼﻟﺍ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.ﺐﺗﺎﻜﻤﻟﺍ ﻊﻗﺍﻮﻣﻭ ،ﺕﺎﺣﺎﻘﻠﻟﺍ ﻝﻭﺪﺟ ،ﺩﺎﺷﺭﻹﺍ ﻊﻤﺠﺗ ﺓﺪﺣﺍﻭ ﺔﺑﺍﻮﺑ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.ﻦﻃﺍﻮﻤﻟﺍ ﺕﺎﻣﺪﺧﻭ ﻦﻳﺮﻓﺎﺴﻤﻟﺍ ﺕﺎﺌﻓ ﻞﻜﻟ ﺔﻌﻳﺮﺳ ﻂﺑﺍﻭﺭ •</a:t>
            </a:r>
          </a:p>
        </p:txBody>
      </p:sp>
      <p:pic>
        <p:nvPicPr>
          <p:cNvPr id="7" name="Picture 6" descr="01-public-home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79049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ﺮﻔﺴﻟﺍ ﻉﺍﻮﻧﺃ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.ﺮﻔﺴﻟﺍ ﺔﻬﺟﻭ ﺐﺴﺣ ﻢﻴﻌﻄﺘﻟﺍ ﺕﺎﺒﻠﻄﺘﻣ — ﻲﻟﻭﺩ ﺮﻓﺎﺴﻣ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.ﺔﺼﺼﺨﻣ ﺭﺎﻌﺳﺃﻭ ﺐﺗﺎﻜﻣﻭ ﺕﺍﺩﺎﺷﺭﺇ — ﺓﺮﻤﻋﻭ ﺞﺣ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.ﻲﺤﺼﻟﺍ ﺩﺎﺷﺭﻹﺍﻭ ﺔﻴﻠﺤﻤﻟﺍ ﻢﻴﻌﻄﺘﻟﺍ ﺕﺎﻣﺪﺧ — ﻦﻃﺍﻮﻣ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.ﺔﺼﻨﻤﻟﺍ ﻞﺧﺍﺩ ﺔﻴﻠﻋﺎﻔﺗ ﺔﻳﺩﺎﺷﺭﺇ ﺔﺤﻔﺻ ﺎﻬﻟ ﺔﺌﻓ ﻞﻛ •</a:t>
            </a:r>
          </a:p>
        </p:txBody>
      </p:sp>
      <p:pic>
        <p:nvPicPr>
          <p:cNvPr id="7" name="Picture 6" descr="02-public-international-traveler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657600"/>
            <a:ext cx="1329141" cy="2743200"/>
          </a:xfrm>
          <a:prstGeom prst="rect">
            <a:avLst/>
          </a:prstGeom>
        </p:spPr>
      </p:pic>
      <p:pic>
        <p:nvPicPr>
          <p:cNvPr id="8" name="Picture 7" descr="07-public-hajj-umrah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57600"/>
            <a:ext cx="729089" cy="2743200"/>
          </a:xfrm>
          <a:prstGeom prst="rect">
            <a:avLst/>
          </a:prstGeom>
        </p:spPr>
      </p:pic>
      <p:pic>
        <p:nvPicPr>
          <p:cNvPr id="9" name="Picture 8" descr="08-public-citizen-services-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657600"/>
            <a:ext cx="936956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ﺔﻟﻭﺪﻟﺍ ﺕﺎﺒﻠﻄﺘﻣ — ﻲﻟﻭﺩ ﺮﻓﺎﺴﻣ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.ﺍﺭﻮﻓ ﺔﺑﻮﻠﻄﻤﻟﺍ ﺕﺎﻤﻴﻌﻄﺘﻟﺍ ﺮﻬﻈﺘﻓ ﺔﻟﻭﺪﻟﺍ ﻦﻃﺍﻮﻤﻟﺍ ﺭﺎﺘﺨﻳ :ﺔﻴﻠﻋﺎﻔﺗ ﺔﺌﻴﺑ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.ﺕﺎﻴﺠﻣﺮﺒﻟﺍ ﻞﻳﺪﻌﺗ ﻥﻭﺩ ﺓﺭﺍﺩﻹﺍ ﺔﺣﻮﻟ ﻦﻣ ﺙﺪﺤﺗ ﺕﺎﻧﺎﻴﺒﻟﺍ •</a:t>
            </a:r>
          </a:p>
        </p:txBody>
      </p:sp>
      <p:pic>
        <p:nvPicPr>
          <p:cNvPr id="7" name="Picture 6" descr="02-public-international-traveler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1550664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ﺔﻳﺩﻮﻌﺴﻟﺍ ﺔﻴﺑﺮﻌﻟﺍ ﺔﻜﻠﻤﻤﻟﺍ :ﻝﺎﺜﻣ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.ﺔﺑﻮﻠﻄﻤﻟﺍ ﺕﺎﻃﺍﺮﺘﺷﻻﺍﻭ ﺕﺎﻤﻴﻌﻄﺘﻟﺍ ﺔﻤﺋﺎﻗ ﺮﻬﻈﺗ ﺔﻳﺩﻮﻌﺴﻟﺍ ﺔﻴﺑﺮﻌﻟﺍ ﺔﻜﻠﻤﻤﻟﺍ ﺭﺎﻴﺘﺧﺍ ﺪﻨﻋ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.ﺐﺘﻜﻤﻟﺍ ﺓﺭﺎﻳﺯ ﻞﺒﻗ ﺮﻴﻀﺤﺘﻟﺍ ﻰﻠﻋ ﺮﻓﺎﺴﻤﻟﺍ ﺪﻋﺎﺴﻳ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.ﻦﻣﺩﺃ ﺮﺑﻮﺴﻟﺍ ﺔﺣﻮﻟ ﻦﻣ ﺔﻟﻭﺩ ﻱﺃ ﺕﺎﺒﻠﻄﺘﻣ ﻞﻳﺪﻌﺗ ﻭﺃ ﺔﻓﺎﺿﺇ ﻦﻜﻤﻳ •</a:t>
            </a:r>
          </a:p>
        </p:txBody>
      </p:sp>
      <p:pic>
        <p:nvPicPr>
          <p:cNvPr id="7" name="Picture 6" descr="saudi-requirements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150214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ﺓﺮﻤﻋﻭ ﺞﺣ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.ﺐﺗﺎﻜﻤﻟﺍ ﻝﻭﺪﺟﻭ ﺔﻴﺤﺻ ﺕﺍﺩﺎﺷﺭﺇ :ﻦﻳﺮﻤﺘﻌﻤﻟﺍﻭ ﺝﺎﺠﺤﻠﻟ ﺔﺼﺼﺨﻣ ﺔﺤﻔﺻ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.ﺰﺠﺤﻟﺍ ﻞﺒﻗ ﺭﺍﺮﻘﻟﺍ ﺫﺎﺨﺗﻻ ﻊﻗﺍﻮﻤﻟﺍﻭ ﺭﺎﻌﺳﻷﺍ ﺽﺮﻋ •</a:t>
            </a:r>
          </a:p>
        </p:txBody>
      </p:sp>
      <p:pic>
        <p:nvPicPr>
          <p:cNvPr id="7" name="Picture 6" descr="07-public-hajj-umrah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850604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ﻦﻃﺍﻮﻤﻟﺍ ﺕﺎﻣﺪﺧ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.ﺮﺼﻣ ﻞﺧﺍﺩ ﻦﻴﻨﻃﺍﻮﻤﻠﻟ ﻢﻴﻌﻄﺘﻟﺍ ﺕﺍﺩﺎﺷﺭﺇ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.ﺐﺘﻜﻤﻟﺍ ﺓﺭﺎﻳﺯ ﻞﺒﻗ ﻪﺟﺎﺘﺤﻳ ﺎﻣ ﺔﻓﺮﻌﻣ ﻰﻠﻋ ﺪﻋﺎﺴﺗ ﺔﺤﺿﺍﻭ ﺕﺎﻣﻮﻠﻌﻣ •</a:t>
            </a:r>
          </a:p>
        </p:txBody>
      </p:sp>
      <p:pic>
        <p:nvPicPr>
          <p:cNvPr id="7" name="Picture 6" descr="08-public-citizen-services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109311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ﺪﻋﻮﻣ ﺰﺠﺣ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.ﻒﺗﺎﻬﻟﺍﻭ ﻢﺳﻻﺍ ،ﺦﻳﺭﺎﺘﻟﺍ ،ﺐﺘﻜﻤﻟﺍ ،ﺮﻓﺎﺴﻤﻟﺍ ﺔﻟﺎﺣ :ﻂﻴﺴﺑ ﺝﺫﻮﻤﻧ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.ﺰﺠﺤﻟﺍ ﺪﻴﻛﺄﺗ ﻞﺒﻗ ﺐﺘﻜﻤﻠﻟ ﺔﻴﻣﻮﻴﻟﺍ ﺔﻌﺴﻟﺍ ﻦﻣ ﻖﻘﺤﺘﻳ ﻡﺎﻈﻨﻟﺍ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.ﻱﺭﻮﻓ ﺐﻠﻃ ﻢﻗﺭ ﻰﻠﻋ ﻦﻃﺍﻮﻤﻟﺍ ﻞﺼﺤﻳ ﻝﺎﺳﺭﻹﺍ ﺪﻌﺑ •</a:t>
            </a:r>
          </a:p>
        </p:txBody>
      </p:sp>
      <p:pic>
        <p:nvPicPr>
          <p:cNvPr id="7" name="Picture 6" descr="03-public-booking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488196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(QR) ﺰﺠﺤﻟﺍ ﺔﻗﺎﻄﺑ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.ﺐﺘﻜﻤﻟﺍ ﺪﻨﻋ ﺽﺮﻌﻠﻟ QR ﺰﻣﺮﺑ ﺔﻴﻧﻭﺮﺘﻜﻟﺇ ﺔﻗﺎﻄﺑ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.ﺓﺩﺪﺤﻣ ﺓﺪﻤﻟ ﺔﺤﻟﺎﺻ — ﺎﻬﺘﻛﺭﺎﺸﻣ ﻭﺃ ﺎﻬﻈﻔﺣ ﻦﻜﻤﻳ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.ﺔﻋﺮﺴﺑ ﺰﺠﺤﻟﺍ ﻦﻣ ﻖﻘﺤﺘﻟﺍ ﻒﻇﻮﻤﻟﺍ ﻰﻠﻋ ﻞﻬﺴﺗ •</a:t>
            </a:r>
          </a:p>
        </p:txBody>
      </p:sp>
      <p:pic>
        <p:nvPicPr>
          <p:cNvPr id="7" name="Picture 6" descr="14-public-booking-pass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473159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ﻲﻣﻮﻴﻟﺍ ﺭﻮﺑﺎﻄﻟﺍ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.ﺐﻠﻄﻟﺍ ﻢﻗﺭ ﻝﺎﺧﺩﺇ ﻭﺃ ﺭﻮﻀﺤﻟﺍ QR ﺢﺴﻣ :ﺐﺘﻜﻤﻠﻟ ﻝﻮﺻﻮﻟﺍ ﺪﻨﻋ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.ﻊﻗﻮﺘﻤﻟﺍ ﺭﺎﻈﺘﻧﻻﺍ ﺖﻗﻭﻭ ﻩﺭﻭﺩ ﻑﺮﻌﻳ ﻦﻃﺍﻮﻤﻟﺍ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.ﺐﺘﻜﻤﻟﺍ ﻲﻓ ﺔﺼﺼﺨﻣ ﺔﺷﺎﺷ ﻦﻣ ﺭﻮﺑﺎﻄﻟﺍ ﺮﻳﺪﻳ ﻒﻇﻮﻤﻟﺍ •</a:t>
            </a:r>
          </a:p>
        </p:txBody>
      </p:sp>
      <p:pic>
        <p:nvPicPr>
          <p:cNvPr id="7" name="Picture 6" descr="06-public-checkin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520440"/>
            <a:ext cx="4681728" cy="2926080"/>
          </a:xfrm>
          <a:prstGeom prst="rect">
            <a:avLst/>
          </a:prstGeom>
        </p:spPr>
      </p:pic>
      <p:pic>
        <p:nvPicPr>
          <p:cNvPr id="8" name="Picture 7" descr="19-admin-office-queue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20440"/>
            <a:ext cx="468172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ﻦﻃﺍﻮﻤﻟﺍ ﺐﻧﺎﺟ — ﻯﻭﺎﻜﺸﻟﺍ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.ﺩﺪﺤﻣ ﺐﺘﻜﻤﺑ ﻂﺒﺗﺮﻣ ﺡﺮﺘﻘﻤﻟﺍ ﻭﺃ ﻯﻮﻜﺸﻠﻟ ﻲﻧﻭﺮﺘﻜﻟﺇ ﺝﺫﻮﻤﻧ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.ﺔﻴﻨﻌﻤﻟﺍ ﺔﻬﺠﻠﻟ ﻯﻮﻜﺸﻟﺍ ﻝﻮﺻﻭ ﻥﺎﻤﻀﻟ ﺔﻴﻣﺍﺰﻟﺇ ﻞﻴﺻﺎﻔﺗ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.ﺯﺎﻬﺠﻟﺍ ﻰﻠﻋ «ﻲﺗﺎﺒﻠﻃ» ﺔﺤﻔﺻ ﻦﻣ ﺔﻟﺎﺤﻟﺍ ﺔﻌﺑﺎﺘﻣ •</a:t>
            </a:r>
          </a:p>
        </p:txBody>
      </p:sp>
      <p:pic>
        <p:nvPicPr>
          <p:cNvPr id="7" name="Picture 6" descr="04-public-complaint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520440"/>
            <a:ext cx="4681728" cy="2926080"/>
          </a:xfrm>
          <a:prstGeom prst="rect">
            <a:avLst/>
          </a:prstGeom>
        </p:spPr>
      </p:pic>
      <p:pic>
        <p:nvPicPr>
          <p:cNvPr id="8" name="Picture 7" descr="05-public-my-requests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20440"/>
            <a:ext cx="468172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ﻒﻇﻮﻤﻟﺍ ﺐﻧﺎﺟ — ﻯﻭﺎﻜﺸﻟﺍ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.ﺓﺭﺍﺩﻹﺍ ﺔﺣﻮﻟ ﻲﻓ ﺕﺎﺒﻠﻄﻟﺍ ﺔﻤﺋﺎﻗ ﻰﻟﺇ ﻯﻮﻜﺸﻟﺍ ﻝﻮﺻﻭ ①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.ﺰﻫﺎﺟ ﺐﻟﺎﻗ ﻦﻣ ﺏﺎﺴﺗﺍﻭ ﺮﺒﻋ ﻦﻃﺍﻮﻤﻟﺍ ﻊﻣ ﻞﺻﺍﻮﺘﻟﺍ ②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.ﻞﻤﺘﻜﻣ → ﺔﺠﻟﺎﻌﻤﻟﺍ ﺪﻴﻗ → ﻞﺻﺍﻮﺘﻟﺍ ﻢﺗ → ﺪﻳﺪﺟ :ﺔﻟﺎﺤﻟﺍ ﺚﻳﺪﺤﺗ ③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.ﺔﻌﺑﺎﺘﻤﻟﺍﻭ ﻖﻴﻗﺪﺘﻠﻟ ﻞﻣﺎﻛ ﻁﺎﺸﻧ ﻞﺠﺳ ④ •</a:t>
            </a:r>
          </a:p>
        </p:txBody>
      </p:sp>
      <p:pic>
        <p:nvPicPr>
          <p:cNvPr id="7" name="Picture 6" descr="12-admin-requests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520440"/>
            <a:ext cx="2591362" cy="2926080"/>
          </a:xfrm>
          <a:prstGeom prst="rect">
            <a:avLst/>
          </a:prstGeom>
        </p:spPr>
      </p:pic>
      <p:pic>
        <p:nvPicPr>
          <p:cNvPr id="8" name="Picture 7" descr="13-admin-request-detail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20440"/>
            <a:ext cx="468172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ﺐﺗﺎﻜﻤﻟﺍ ﺓﺭﺍﺩﺇ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.ﻞﻤﻌﻟﺍ ﺕﺎﻋﺎﺳ ،ﻒﺗﺎﻬﻟﺍ ،ﻥﺍﻮﻨﻌﻟﺍ :ﺐﺗﺎﻜﻤﻟﺍ ﻞﻳﺪﻌﺗﻭ ﺔﻓﺎﺿﺇ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.ﺐﺘﻜﻣ ﻞﻜﻟ ﺰﺠﺤﻠﻟ ﺔﻴﻣﻮﻴﻟﺍ ﺔﻌﺴﻟﺍ ﺪﻳﺪﺤﺗ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.ﻲﻣﻮﻴﻟﺍ ﺭﻮﺑﺎﻄﻠﻟ ﺐﺘﻜﻣ ﻞﻜﺑ ﺹﺎﺧ ﺭﻮﻀﺣ QR ﺀﺎﺸﻧﺇ •</a:t>
            </a:r>
          </a:p>
        </p:txBody>
      </p:sp>
      <p:pic>
        <p:nvPicPr>
          <p:cNvPr id="7" name="Picture 6" descr="15-admin-offices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143973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ﺕﺎﻧﺎﻴﺒﻟﺍﻭ ﺕﺎﻤﻴﻌﻄﺘﻟﺍ ﺓﺭﺍﺩﺇ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.ﻦﻳﺮﻓﺎﺴﻤﻟﺍ ﺕﻻﺎﺣ ،ﻝﻭﺪﻟﺍ ﺕﺎﺒﻠﻄﺘﻣ ،ﺕﺎﺣﺎﻘﻠﻟﺍ :ﻲﻓ ﻢﻜﺤﺘﻳ ﻦﻣﺩﺃ ﺮﺑﻮﺴﻟﺍ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.Excel ﺩﺍﺮﻴﺘﺳﺍ ﻭﺃ ﺓﺪﺣﺍﻭ ﺔﺣﻮﻟ ﻦﻣ ﺕﺎﻧﺎﻴﺒﻟﺍ ﺚﻳﺪﺤﺗ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.ﺓﺪﻳﺪﺟ ﺔﻟﻭﺩ ﺔﻓﺎﺿﺇ ﻭﺃ ﺭﺎﻌﺳﻷﺍ ﺮﻴﻴﻐﺘﻟ ﺭﻮﻄﻤﻟ ﺔﺟﺎﺣ ﻻ •</a:t>
            </a:r>
          </a:p>
        </p:txBody>
      </p:sp>
      <p:pic>
        <p:nvPicPr>
          <p:cNvPr id="7" name="Picture 6" descr="20-admin-vaccines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520440"/>
            <a:ext cx="2922021" cy="2926080"/>
          </a:xfrm>
          <a:prstGeom prst="rect">
            <a:avLst/>
          </a:prstGeom>
        </p:spPr>
      </p:pic>
      <p:pic>
        <p:nvPicPr>
          <p:cNvPr id="8" name="Picture 7" descr="16-admin-destination-countries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20440"/>
            <a:ext cx="36815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ﺮﻳﻮﻄﺘﻟﺍ ﻖﻳﺮﻓ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>
                <a:solidFill>
                  <a:srgbClr val="1A2B3C"/>
                </a:solidFill>
                <a:latin typeface="Arial Unicode MS"/>
              </a:rPr>
              <a:t>.ﺐﺗﺎﻜﻤﻟﺍ ﻞﻤﻋ ﻞﻴﻬﺴﺗﻭ ﻦﻃﺍﻮﻤﻟﺍ ﺔﻣﺪﺨﻟ ﻲﻨﻘﺗ ﻞﺣ ﻢﻳﺪﻘﺗ ﻰﻠﻋ ﻥﻮﻠﻤﻌﻳ ﻥﻮﻠﻘﺘﺴﻣ ﺩﺍﺮﻓﺃ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194560"/>
            <a:ext cx="7589520" cy="1005840"/>
          </a:xfrm>
          <a:prstGeom prst="rect">
            <a:avLst/>
          </a:prstGeom>
          <a:solidFill>
            <a:srgbClr val="F4F6F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233172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Arial Unicode MS"/>
              </a:rPr>
              <a:t>١ ﺭﻮﻄﻣ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724912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B7D"/>
                </a:solidFill>
                <a:latin typeface="Arial Unicode MS"/>
              </a:rPr>
              <a:t>[ﺔﻛﺮﺸﻟﺍ / ﺔﻬﺠﻟﺍ]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520439"/>
            <a:ext cx="7589520" cy="1005840"/>
          </a:xfrm>
          <a:prstGeom prst="rect">
            <a:avLst/>
          </a:prstGeom>
          <a:solidFill>
            <a:srgbClr val="F4F6F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3657599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Arial Unicode MS"/>
              </a:rPr>
              <a:t>٢ ﺭﻮﻄﻣ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050791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B7D"/>
                </a:solidFill>
                <a:latin typeface="Arial Unicode MS"/>
              </a:rPr>
              <a:t>[ﺔﻛﺮﺸﻟﺍ / ﺔﻬﺠﻟﺍ]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ﺔﻴﻟﺎﺤﻟﺍ ﺕﺎﻴﻨﻘﺘﻟﺍ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371600"/>
          <a:ext cx="99669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 Unicode MS"/>
                        </a:rPr>
                        <a:t>ﺪﻨﺒﻟﺍ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 Unicode MS"/>
                        </a:rPr>
                        <a:t>ﻞﻴﺼﻔﺘﻟﺍ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ﺔﺼﻨﻤﻟﺍ ﻉﻮﻧ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ﺮﺗﻮﻴﺒﻤﻜﻟﺍﻭ ﻝﺍﻮﺠﻟﺍ ﻰﻠﻋ ﻞﻤﻌﻳ ﺚﻳﺪﺣ ﺐﻳﻭ ﻊﻗﻮﻣ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ﺕﺎﻐﻠﻟﺍ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ﻲﻨﻴﺻ · ﻱﺰﻴﻠﺠﻧﺇ · (ﻲﺿﺍﺮﺘﻓﺍ) ﻲﺑﺮﻋ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ﺕﺎﻧﺎﻴﺒﻟﺍ ﺓﺪﻋﺎﻗ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(Firebase) ﺔﻨﻣﺁ ﺔﻴﺑﺎﺤﺳ ﺔﻣﺪﺧ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ﻥﺎﻣﻷﺍ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B3C"/>
                          </a:solidFill>
                          <a:latin typeface="Arial Unicode MS"/>
                        </a:rPr>
                        <a:t>ﺓﺭﺮﻜﺘﻤﻟﺍ ﺕﺎﺒﻠﻄﻠﻟ ﺩﻭﺪﺣ · ﻲﻤﺤﻣ ﻦﻴﻔﻇﻮﻤﻟﺍ ﻝﻮﺧﺩ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ﻊﺳﻮﺘﻟﺍ ﺔﻄﺧ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.ﺎﻴﻣﻮﻳ ﺔﻴﻠﻤﻋ ﻒﻟﺃ 50~ ﻰﺘﺣ — ﺓﺮﻫﺎﻘﻟﺍ ﺐﺗﺎﻜﻣ ﻞﻴﻐﺸﺗ :(ﻥﻵﺍ) 1 ﺔﻠﺣﺮﻤﻟﺍ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.ﺭﻮﺑﺎﻄﻠﻟ ﺕﺍﺭﺎﻌﺷﺇ + ﺔﺒﻗﺍﺮﻣ + (CDN) ﻊﻳﺯﻮﺗ ﺔﻜﺒﺷ :(ﺎﺒﻳﺮﻗ) 2 ﺔﻠﺣﺮﻤﻟﺍ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.ﺔﻴﻨﻃﻭ ﺔﻳﻮﻫ ﻞﻣﺎﻜﺗ + ﻯﻮﻗﺃ ﺕﺎﻧﺎﻴﺑ ﺓﺪﻋﺎﻗ + ﺓﺩﺪﻌﺘﻣ ﻡﺩﺍﻮﺧ :(ﺔﻳﺭﻮﻬﻤﺟ) 3 ﺔﻠﺣﺮﻤﻟﺍ 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Unicode MS"/>
              </a:rPr>
              <a:t>ﺓﺭﺍﺯﻮﻟﺍ ﻦﻣ ﻪﺟﺎﺘﺤﻧ ﺎﻣ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D8E2F0"/>
                </a:solidFill>
                <a:latin typeface="Arial Unicode MS"/>
              </a:rPr>
              <a:t>ﺓﺮﻫﺎﻘﻟﺎﺑ ﻲﺤﺼﻟﺍ ﺮﺠﺤﻟﺍ ﺓﺭﺍﺩﺇ ﺔﺑﺍﻮﺑ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.(eg.) ﻲﻤﺳﺭ ﻕﺎﻄﻧ + ﺔﻴﺑﺎﺤﺳ ﺔﻓﺎﻀﺘﺳﺍ :ﻞﻴﻐﺸﺗ ﺔﺌﻴﺑ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.(ﻦﻴﻔﻇﻮﻤﻟﺍ ﻝﻮﺧﺩ + ﺕﺎﻧﺎﻴﺑ ﺓﺪﻋﺎﻗ) ﺝﺎﺘﻧﻺﻟ Firebase / Google Cloud ﺏﺎﺴﺣ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.ﻲﻃﺎﻴﺘﺣﺍ ﺦﺴﻧ ،ﺔﻔﺷﺭﺃ ،ﺭﻮﺑﺎﻄﻟﺍ ﻕﻼﻏﺇ :ﺔﻴﻣﻮﻳ ﻡﺎﻬﻣ ﺔﻟﻭﺪﺟ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.ﻝﻭﺪﻟﺍ ﺕﺎﺒﻠﻄﺘﻣ ،ﺕﺎﺣﺎﻘﻠﻟﺍ ،ﺐﺗﺎﻜﻤﻟﺍ :ﺔﻴﻟﻭﺃ ﺕﺎﻧﺎﻴﺑ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.ﺐﺗﺎﻜﻤﻟﺍ ﻱﺮﻳﺪﻣﻭ ﻦﻣﺩﺃ ﺮﺑﻮﺴﻠﻟ ﻡﻮﻳ 2–1 ﺐﻳﺭﺪﺗ •</a:t>
            </a:r>
          </a:p>
          <a:p>
            <a:pPr algn="r">
              <a:spcAft>
                <a:spcPts val="800"/>
              </a:spcAft>
            </a:pPr>
            <a:r>
              <a:rPr sz="1600">
                <a:solidFill>
                  <a:srgbClr val="1A2B3C"/>
                </a:solidFill>
                <a:latin typeface="Arial Unicode MS"/>
              </a:rPr>
              <a:t>.ﺕﺎﻴﺳﺎﺳﻷﺍ ﺮﻴﻓﻮﺘﻟ ﻰﻌﺴﻧ ﻻﺇﻭ .ﺍﺭﻮﻓ ﻞﻴﻐﺸﺘﻟﺍ ﺃﺪﺒﻧ — ﺔﺌﻴﺒﻟﺍ ﺓﺭﺍﺯﻮﻟﺍ ﺕﺮﻓﻭ ﺍﺫﺇ 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Unicode MS"/>
              </a:rPr>
              <a:t>ﻢﻜﺗﺮﻀﺤﻟ ﺍﺮﻜﺷ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8DC"/>
                </a:solidFill>
                <a:latin typeface="Arial Unicode MS"/>
              </a:rPr>
              <a:t>ﻢﻜﺗﺎﻈﺣﻼﻣﻭ ﻢﻜﺘﻠﺌﺳﺄﺑ ﺐﺣﺮﻧ</a:t>
            </a:r>
            <a:br/>
            <a:r>
              <a:t>ﺓﺮﻫﺎﻘﻟﺎﺑ ﻲﺤﺼﻟﺍ ﺮﺠﺤﻟﺍ ﺓﺭﺍﺩﺇ ﺔﺑﺍﻮﺑ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868</Words>
  <Application>Microsoft Macintosh PowerPoint</Application>
  <PresentationFormat>Widescreen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 Unicode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Sokany Maunfacturing</cp:lastModifiedBy>
  <cp:revision>1</cp:revision>
  <dcterms:created xsi:type="dcterms:W3CDTF">2013-01-27T09:14:16Z</dcterms:created>
  <dcterms:modified xsi:type="dcterms:W3CDTF">2026-05-24T08:17:31Z</dcterms:modified>
  <cp:category/>
</cp:coreProperties>
</file>